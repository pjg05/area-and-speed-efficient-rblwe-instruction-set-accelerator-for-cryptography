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99" r:id="rId4"/>
    <p:sldId id="258" r:id="rId5"/>
    <p:sldId id="259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71" r:id="rId16"/>
    <p:sldId id="272" r:id="rId17"/>
    <p:sldId id="292" r:id="rId18"/>
    <p:sldId id="293" r:id="rId19"/>
    <p:sldId id="276" r:id="rId20"/>
    <p:sldId id="277" r:id="rId21"/>
    <p:sldId id="275" r:id="rId22"/>
    <p:sldId id="297" r:id="rId23"/>
    <p:sldId id="300" r:id="rId24"/>
    <p:sldId id="295" r:id="rId25"/>
    <p:sldId id="296" r:id="rId26"/>
    <p:sldId id="294" r:id="rId27"/>
    <p:sldId id="301" r:id="rId28"/>
    <p:sldId id="302" r:id="rId29"/>
    <p:sldId id="278" r:id="rId30"/>
    <p:sldId id="303" r:id="rId31"/>
    <p:sldId id="281" r:id="rId32"/>
    <p:sldId id="291" r:id="rId33"/>
    <p:sldId id="298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279" r:id="rId43"/>
    <p:sldId id="268" r:id="rId44"/>
    <p:sldId id="262" r:id="rId45"/>
    <p:sldId id="270" r:id="rId46"/>
    <p:sldId id="26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595" autoAdjust="0"/>
  </p:normalViewPr>
  <p:slideViewPr>
    <p:cSldViewPr snapToGrid="0">
      <p:cViewPr>
        <p:scale>
          <a:sx n="62" d="100"/>
          <a:sy n="62" d="100"/>
        </p:scale>
        <p:origin x="70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B1BEAE-E1AC-408D-87D2-EBD8BB516B7A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4B3CE-39E9-4BBF-ACAD-6E76F43B55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69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1212-7C10-E643-EBCD-ED56FD05B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A9C6F-BBFF-07B1-2BF0-3EDA790C4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96B8C-3CFD-AC32-3086-3FC941ACB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EA8A9-4239-4342-8B7F-22AA585BE71F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ACB67-3611-1934-6303-FE9D9A2B9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8E1E7-B518-67AA-F564-F1E7F4B5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168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40C6-3365-AC44-1B4A-17B2D16BD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C5FC0-3442-55B3-5386-D0FF0869D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0903B-DB00-74C9-821D-B28F6C13A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D3F3E-DF01-8A91-E239-35844DF04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A4B98-9A72-7CA8-1849-2F8D4F0E2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75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C24B1-8889-7E04-BA8C-A811BFA65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79999-5F00-84FF-6611-D482CF5E2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ED005-CE80-EB11-3671-18C3C24D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390E7-0654-400D-B1DF-A89602C5E61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8A3A4-0D0D-960C-11D6-914DB0AF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3FD76-9D1E-E207-50C3-ECFDB02F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53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937CA-8DB4-31E5-8998-860A5289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9EB4F-27B2-AA80-686D-819AA8D29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2DB3E-A6D9-C80E-CE38-F92B6CF23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474FF-56C2-97DB-F644-0F6EF7770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A9C28-DB8D-4D2F-A792-811BE518AA1F}" type="datetime1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336138-91D9-AC80-EDDB-1FACDE93A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959FB-7189-4864-B142-48224DB5C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39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3C73E-BE6B-3E09-8FF7-AC0E7AB02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20832-3E59-C75F-7450-0525BB13C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34F65-D4DB-4F6D-6DB3-B1448EFB7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0EB2D9-9044-3600-8FAF-40ECAC0B4F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96841-F617-ED09-0529-15073FB31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8FDBE-6B30-A6DA-C4EE-BB3ED80A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726B4-78B6-475D-8AD2-00C18DEE7947}" type="datetime1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B7CAE5-C0FF-0F05-0F83-9CC9199B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FF12DB-ED67-9995-57FF-AD530240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43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7ED1A-F825-FB30-4D77-74F2E109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84FBBB-C106-63CD-4F88-4205C39C7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010F6-9538-4AE9-BD8A-665C1070E5A5}" type="datetime1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0A24C4-E396-CB76-F9CA-90EEF5C5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460978-C44D-E91F-FD4E-195B4C96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5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D2317-6D36-C093-6599-A438F3A5D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88D00-72BA-4FF4-845D-073BF190E930}" type="datetime1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1E1D60-C33C-CF6B-DF66-731C78BB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107F0-2046-B34E-8DB4-A794250D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878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DB60-8575-057B-B357-CA9483B7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E3B69-324B-A6A4-8F1D-9BE01DEB5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A38AF-94C3-3657-9DA2-EC83D50A8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92933-1D31-F9BD-52C4-F5FBFEA7D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41E89-938E-4BB5-84CF-A2154A9E315F}" type="datetime1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D8C71-A1F5-53DE-6A86-3D6EC9A84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C2F97-F81A-2866-AD73-4F780EAE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17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6CA5-EA6C-B0AD-68B3-8241192F9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B1F242-6D53-F019-0E3C-42D206049D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D7A185-A105-C9CD-DF12-28B1051C7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5A271-9206-066A-D647-54A75DDDF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89F32-8516-4E58-BF5C-E2F089739B59}" type="datetime1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2608F0-E0CB-CB0F-73FD-E107EF541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47233-607B-275D-7CA9-0889E8AB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232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4E26-8F25-7456-3374-7EC4A414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F320E-305F-A4B2-361F-74DF4EECD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A39E-369C-CE1C-AB29-8331B4693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1F46-325B-4AC8-A61D-717DDB82ECE5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7B82A-90B8-9FB0-819C-6F64B4DD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C15BB-E3C8-DE9F-F55D-F02F41C7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82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F21646-D99E-7A85-07F2-F09C4DF5E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9FD7B8-72DD-DF6D-5860-0315955A9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FE93B-0F60-64EF-C030-EBB3B2CF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4D38E-D634-4A5F-91C8-1AE6F82D2B9D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BA7DE-B693-7335-6DF3-E1B539003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14A0F-9EBF-02DF-91A6-73CE11EE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1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08D81-98A6-59A1-9821-E66A2DF9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0E5A5-407C-D969-3AD0-BF04AF78E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EA4B1-86CB-CC68-28E0-BE31EC1C9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1AE5A-189D-4AF2-9279-5CC27360CBB2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D4721-1C06-FF9F-708B-93214334F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30ECB-D9F4-21A9-24DA-9A77E1D98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1F5D5-6ECC-459E-A0F0-ECCD5DF12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22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0143641-8DDD-EE64-C309-FDB19A264046}"/>
              </a:ext>
            </a:extLst>
          </p:cNvPr>
          <p:cNvSpPr txBox="1"/>
          <p:nvPr/>
        </p:nvSpPr>
        <p:spPr>
          <a:xfrm>
            <a:off x="3520043" y="2861089"/>
            <a:ext cx="7367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 19ECE495 Project Phase-1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End Semester Evaluation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A76E8E-955D-5CA0-C271-F222173AEF55}"/>
              </a:ext>
            </a:extLst>
          </p:cNvPr>
          <p:cNvSpPr txBox="1"/>
          <p:nvPr/>
        </p:nvSpPr>
        <p:spPr>
          <a:xfrm>
            <a:off x="4544568" y="3606044"/>
            <a:ext cx="6296911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Batch Number: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37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30B5B-27DE-3B24-974B-B32880ECE792}"/>
              </a:ext>
            </a:extLst>
          </p:cNvPr>
          <p:cNvSpPr txBox="1"/>
          <p:nvPr/>
        </p:nvSpPr>
        <p:spPr>
          <a:xfrm>
            <a:off x="7482842" y="4217702"/>
            <a:ext cx="6097384" cy="2071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Team Members:</a:t>
            </a: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Anagha Suresh, BL.EN.U4ECE22205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Aparna K, BL.EN.U4ECE22208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Prajwal J 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utham, BL.EN.U4ECE22237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18EB42-D509-5E15-24B9-B1B0C08A8181}"/>
              </a:ext>
            </a:extLst>
          </p:cNvPr>
          <p:cNvSpPr txBox="1"/>
          <p:nvPr/>
        </p:nvSpPr>
        <p:spPr>
          <a:xfrm>
            <a:off x="838200" y="4349116"/>
            <a:ext cx="3870960" cy="16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Mentor: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Ms. Sonali Agrawal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Asst. Prof (Sr. Gr.)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Dept of ECE 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0DC610-E420-4974-7351-7F14EB0F294F}"/>
              </a:ext>
            </a:extLst>
          </p:cNvPr>
          <p:cNvSpPr txBox="1"/>
          <p:nvPr/>
        </p:nvSpPr>
        <p:spPr>
          <a:xfrm>
            <a:off x="711925" y="1197091"/>
            <a:ext cx="106418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Area and Speed Efficient Instruction-Set Accelerator based on RBLWE (Ring Binary Learn With Errors) Encryption for Cryptographic Operations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1ECE2-B738-3397-3F75-F0C12C95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593B5-E02A-4DA9-AC91-05F0ED28B4B0}" type="datetime1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798D8D-BA4B-7B7E-B82D-78D512F6C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DBE15-8B5F-E767-1A71-6EF94316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</a:t>
            </a:fld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8AFE0E-C7AE-19D1-C0BD-5E49647B1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2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AFCC4-EB4E-158E-3411-F462CEFC76BA}"/>
              </a:ext>
            </a:extLst>
          </p:cNvPr>
          <p:cNvSpPr txBox="1"/>
          <p:nvPr/>
        </p:nvSpPr>
        <p:spPr>
          <a:xfrm>
            <a:off x="395382" y="268112"/>
            <a:ext cx="4525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D13ED-3B58-6B96-0823-A061C8F3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8983C-44A9-41F2-817E-C301C3C27D02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F7510-5C70-D6A2-2E6E-F3AD48C87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56F9C-FD19-3027-1F43-3DDD620B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11A8B8-F4CA-D733-4216-1F6EBB35F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F5D058-672C-11C8-B890-7E3D5A884219}"/>
              </a:ext>
            </a:extLst>
          </p:cNvPr>
          <p:cNvSpPr txBox="1"/>
          <p:nvPr/>
        </p:nvSpPr>
        <p:spPr>
          <a:xfrm>
            <a:off x="465177" y="1005840"/>
            <a:ext cx="9825643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                                                                 10. Time Plan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                                                                      11. References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Subobjectives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Literature Survey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Calculations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Output and Parameter Comparison</a:t>
            </a: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94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DCC2A-CF6E-3282-2ABE-99DF38C38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2BFE53-AC4B-5940-E908-6EC58AC78053}"/>
              </a:ext>
            </a:extLst>
          </p:cNvPr>
          <p:cNvSpPr txBox="1"/>
          <p:nvPr/>
        </p:nvSpPr>
        <p:spPr>
          <a:xfrm>
            <a:off x="395382" y="268112"/>
            <a:ext cx="4525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CC00E7-715B-D684-89B8-3658979FAADD}"/>
              </a:ext>
            </a:extLst>
          </p:cNvPr>
          <p:cNvSpPr txBox="1"/>
          <p:nvPr/>
        </p:nvSpPr>
        <p:spPr>
          <a:xfrm>
            <a:off x="254608" y="1213822"/>
            <a:ext cx="116827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arithmetic forms the basis of many advanced computational systems, where efficiency directly impacts overall performance.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critical operations include polynomial multiplication, random binary sampling, and modular additions, which are used repeatedly in higher-level algorithms.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implementations of these operations are computationally heavy and often unsuitable for real-time or resource-constrained environments.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acceleration through specialized cores allows significant gains in speed, efficiency, and parallelism, while also ensuring reusability.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the design and simulation of four fundamental building blocks: a polynomial multiplier, binary sampler, polynomial adder, and binary polynomial adder which can function both as independent modules and as part of larger integrated systems.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F90B5-6F6A-899E-3DF4-2230B8A3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8983C-44A9-41F2-817E-C301C3C27D02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5DF69-4FD7-E03C-3CD9-93C87B37B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84721-74C8-83DE-F485-CCAFD73A9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05B1DE-B0EB-15E6-2630-EC8318C6D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5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AFCC4-EB4E-158E-3411-F462CEFC76BA}"/>
              </a:ext>
            </a:extLst>
          </p:cNvPr>
          <p:cNvSpPr txBox="1"/>
          <p:nvPr/>
        </p:nvSpPr>
        <p:spPr>
          <a:xfrm>
            <a:off x="488372" y="697214"/>
            <a:ext cx="347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DFE57C-89E1-9053-913D-C74373E8F9F6}"/>
              </a:ext>
            </a:extLst>
          </p:cNvPr>
          <p:cNvSpPr txBox="1"/>
          <p:nvPr/>
        </p:nvSpPr>
        <p:spPr>
          <a:xfrm>
            <a:off x="488372" y="1619795"/>
            <a:ext cx="1114627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multiplication is a complex and resource-intensive task that demands optimized hardware support.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sampling plays a key role in generating structured randomness, which is vital for various algorithmic processes.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addition and binary polynomial addition are lightweight operations, but when performed repeatedly, they contribute significantly to overall execution time, hence the need for accelerators.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modular design approach ensures each block can be verified, reused, or scaled independently for different system requirements.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these optimized blocks, the design demonstrates a pathway toward efficient, flexible, and lightweight computational accelerators.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6B5CC-27B2-3793-0561-D60860826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4805C-6E97-4938-9B43-F678F1A2C002}" type="datetime1">
              <a:rPr lang="en-IN" smtClean="0"/>
              <a:t>23-11-2025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32C83-E2F9-8D82-D0C8-0A5EA35D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E692A9-0C55-73EA-4951-4463FC71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4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36CC15-1C1B-2DDC-E29C-A222EEA1B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C5D7FF-97A0-E841-A6C4-F97D9E243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092" y="116491"/>
            <a:ext cx="1716540" cy="147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24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3AFCC4-EB4E-158E-3411-F462CEFC76BA}"/>
              </a:ext>
            </a:extLst>
          </p:cNvPr>
          <p:cNvSpPr txBox="1"/>
          <p:nvPr/>
        </p:nvSpPr>
        <p:spPr>
          <a:xfrm>
            <a:off x="536391" y="602032"/>
            <a:ext cx="1077387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just"/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implement a high-speed and area-efficient instruction-set accelerator based on RBLWE (Ring Binary Learn With Errors) encryption for Cryptographic Operations.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SUB-OBJECTIVES: </a:t>
            </a:r>
          </a:p>
          <a:p>
            <a:pPr algn="just"/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the RBLWE encryption scheme and its hardware requirements, and analyze block diagrams, instruction flow, and accelerator architecture from the base paper and the relevant literature survey. 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simulate the polynomial multiplier core in Verilog.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Binary Sampler, Polynomial Multiplier, Polynomial Adder and Binary Polynomial Adder to provide basis of design.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Instruction Decoder and integrate sub-modules and functionally verify accelerator and perform RTL synthesis and analysis.</a:t>
            </a:r>
          </a:p>
          <a:p>
            <a:pPr marL="342900" lvl="0" indent="-342900" algn="just" fontAlgn="base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of the project.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07902-0946-F1A8-4429-9C516250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9635-D534-4173-BF7C-571698856A43}" type="datetime1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0FA8F-2765-3EED-6263-BC7CAF947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86D106-1C90-AC51-7AA8-56B38312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61DBB6-A549-C1F4-219E-549AC3B85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410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7F62-E275-083A-8C21-35E18C76A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4432069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2A781E-8DEF-AAE2-CCF1-DD5163754C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516" y="1022466"/>
                <a:ext cx="10755284" cy="533388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 Paper: </a:t>
                </a:r>
                <a:r>
                  <a:rPr lang="en-US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High-Performance Instruction-Set Hardware Accelerator for Ring-Binary-LWE-Based Lightweight PQC [1]</a:t>
                </a:r>
              </a:p>
              <a:p>
                <a:pPr marL="0" indent="0" algn="just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He, T. Bao and J. Xie, "High-Performance Instruction-Set Hardware Accelerator for Ring-Binary-LWE-Based Lightweight PQC," in IEEE Transactions on Very Large-Scale Integration (VLSI) Systems, vol. 33, no. 5, pp. 1417-1421, May 2025,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doi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10.1109/TVLSI.2025.3538874.</a:t>
                </a:r>
              </a:p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Abstract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Proposes an instruction-set-based accelerator for Ring-Binary-LWE cryptography, focusing on fast polynomial multiplication and addition for keygen and encryption.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Hardware implementation achieves higher performance, area-efficiency, and throughput compared to existing designs.</a:t>
                </a:r>
              </a:p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Principle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Operations are performed in the polynomial 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multiplication wraps around with the relation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 sz="1800"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Major Computation</a:t>
                </a: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Ciphertext polynomial is computed as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m:rPr>
                        <m:nor/>
                      </m:rPr>
                      <a:rPr lang="ar-AE" sz="18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 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sz="18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 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8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ar-AE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sz="18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integer polynomials and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binary polynomials.</a:t>
                </a:r>
              </a:p>
              <a:p>
                <a:endParaRPr lang="en-US" sz="18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0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2A781E-8DEF-AAE2-CCF1-DD5163754C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516" y="1022466"/>
                <a:ext cx="10755284" cy="5333884"/>
              </a:xfrm>
              <a:blipFill>
                <a:blip r:embed="rId2"/>
                <a:stretch>
                  <a:fillRect l="-567" t="-1257" r="-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13F0B-33A4-4F55-3E18-727D6E05A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F8C77-4B03-E21D-57E2-EC64714F7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BD102-63BD-7A10-CCEA-9EC72A85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6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1474CA-AF62-1F32-B6F2-CC176B809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92" y="79005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97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E16FC-F2C1-E64B-6598-7A461E0B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FC5D1-C3A1-25E5-2233-730B7CC66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7092142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(Contd.)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EDCC5-AF5C-80A2-2CAA-7504CB646F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16" y="1022466"/>
            <a:ext cx="10755284" cy="51544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Paper: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Instruction-Set Hardware Accelerator for Ring-Binary-LWE-Based Lightweight PQC [1]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RBLWE Encryption</a:t>
            </a:r>
          </a:p>
          <a:p>
            <a:pPr marL="0" indent="0">
              <a:buNone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9B6A0-F724-9ECA-A9E4-29BFFC92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315FF-F948-C360-C506-AC933503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8B280-E7E2-A0D1-AFEA-45847B8F3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0CA2B9-1928-CC1B-7606-E2A93CE71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42" y="2495863"/>
            <a:ext cx="4691508" cy="35319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9866FF-CC48-4A1C-C030-45F6D898454F}"/>
              </a:ext>
            </a:extLst>
          </p:cNvPr>
          <p:cNvSpPr txBox="1"/>
          <p:nvPr/>
        </p:nvSpPr>
        <p:spPr>
          <a:xfrm>
            <a:off x="5892561" y="2033652"/>
            <a:ext cx="564018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multiplier core structure </a:t>
            </a:r>
          </a:p>
          <a:p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130437-8727-0477-57A0-9EFC87C32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685" y="2508076"/>
            <a:ext cx="6027827" cy="2936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590B85-6FB5-8D8C-9D70-6AED32B88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58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CC68-6B54-2395-5D40-143BD6EB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5342-8061-05EC-A7A8-BD6F9AABC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7092142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(Contd.)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7144D-09A6-C7B9-E446-FEC1F2E1F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16" y="1022466"/>
            <a:ext cx="10755284" cy="51544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Paper: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Instruction-Set Hardware Accelerator for Ring-Binary-LWE-Based Lightweight PQC [1]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Polynomial Adder</a:t>
            </a:r>
          </a:p>
          <a:p>
            <a:pPr marL="0" indent="0">
              <a:buNone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E8EF4-BB2C-ECE1-4B58-9300EFF36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CCC23-B9AD-DB5F-D9B8-8F33ABA17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E5425-662E-1FCB-D5C2-F3730497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8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8C8AB2-491A-8DFD-4DC1-E89E29344087}"/>
              </a:ext>
            </a:extLst>
          </p:cNvPr>
          <p:cNvSpPr txBox="1"/>
          <p:nvPr/>
        </p:nvSpPr>
        <p:spPr>
          <a:xfrm>
            <a:off x="5856316" y="2046412"/>
            <a:ext cx="5640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Binary Polynomial Adder 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5BAC74-0072-CA84-4A3F-4391C8990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53" y="2647841"/>
            <a:ext cx="4048690" cy="15623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2647FC-4483-9866-2FEA-6374BADE6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158" y="2733578"/>
            <a:ext cx="3715268" cy="13908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30903D-0D01-C66C-CD75-E77CAF50B0FB}"/>
              </a:ext>
            </a:extLst>
          </p:cNvPr>
          <p:cNvSpPr txBox="1"/>
          <p:nvPr/>
        </p:nvSpPr>
        <p:spPr>
          <a:xfrm>
            <a:off x="598516" y="4595117"/>
            <a:ext cx="1051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instruction-set accelerators significantly improve the efficiency of polynomial operations central to RBLWE encryption.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designs highlight a path toward lightweight, high-performance, and scalable implementations of post-quantum cryptographic schemes.</a:t>
            </a:r>
          </a:p>
          <a:p>
            <a:pPr algn="just"/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02FD6A-8DCE-630A-4E69-8D0C236B8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6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EE08-F921-8653-6E4D-15233ACE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D5BB1-377E-886C-D324-23064B1A4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5296592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6E938-9A4F-CCC8-FC49-2C3362E774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516" y="1022466"/>
                <a:ext cx="10755284" cy="5333884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Paper 2: </a:t>
                </a:r>
                <a:r>
                  <a:rPr lang="en-US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Novel low-complexity polynomial multiplication over hybrid fields for efficient implementation of binary ring-LWE post-quantum cryptography [2]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P. He, U. Guin, and J. Xie, “Novel low-complexity polynomial multiplication over hybrid fields for efficient implementation of binary ring-LWE post-quantum cryptography,” IEEE J. Emerg. Sel. Topics Circuits Syst., vol. 11, no. 2, pp. 383–394, Jun. 2021.</a:t>
                </a:r>
              </a:p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Abstract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Proposes a low-complexity polynomial multiplication method using hybrid fields to accelerate binary ring-LWE cryptography.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Achieves reduced hardware resource usage and higher efficiency, making implementations more practical for lightweight PQC.</a:t>
                </a:r>
                <a:endParaRPr lang="en-US" sz="1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Principle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Ring Setting: Polynomial arithmetic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80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sz="180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ar-AE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ar-AE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18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binary error terms.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Hybrid Field Multiplication: Splits computation across both binary field operations (GF(2)) and binary extension field operations (GF(2^m)) to simplify and accelerate polynomial multiplication.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leveraging binary coefficients, multiplication reduces to selective additions, avoiding full modular multiplications and lowering complexity.</a:t>
                </a:r>
                <a:endParaRPr lang="en-US" sz="1800" b="1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D6E938-9A4F-CCC8-FC49-2C3362E774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516" y="1022466"/>
                <a:ext cx="10755284" cy="5333884"/>
              </a:xfrm>
              <a:blipFill>
                <a:blip r:embed="rId2"/>
                <a:stretch>
                  <a:fillRect l="-567" t="-1257" r="-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112CB-CB1B-E15D-67C4-ABA32BA2F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104E2-DCE8-A898-C700-5558C8BD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79F47-990D-9DC1-5C34-F57F902B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106EB8-79FB-7C4A-E7A4-7AA61BB62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126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3602-07D9-0649-FB1C-FF7D07F0D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D8CFA-B6CD-27B5-AE47-7832EFB90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5296592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CB2CC-41E2-E76A-59E2-D1EC02228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16" y="1022466"/>
            <a:ext cx="10755284" cy="5333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2: </a:t>
            </a: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 low-complexity polynomial multiplication over hybrid fields for efficient implementation of binary ring-LWE post-quantum cryptography [2]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0" indent="0">
              <a:buNone/>
            </a:pPr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18988-2BD7-A4BB-4BCA-5842DFA07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F5F4A-2F71-BF2C-1EA0-2BE5C516E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4D1E5-AFB8-4010-5940-9F6729F4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B108B-3C0E-0253-2DCF-D78E31AE9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16" y="2002760"/>
            <a:ext cx="3883688" cy="35407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D075D9-CDE8-B8A6-B87B-FF9087A5C7F0}"/>
              </a:ext>
            </a:extLst>
          </p:cNvPr>
          <p:cNvSpPr txBox="1"/>
          <p:nvPr/>
        </p:nvSpPr>
        <p:spPr>
          <a:xfrm>
            <a:off x="5053302" y="1964899"/>
            <a:ext cx="59384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Hybrid-field-based multiplication significantly reduces computational cost while maintaining the security guarantees of binary ring-LWE.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foundation for lightweight and scalable PQC hardware/software designs in constrained environments.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8C6A46-269E-28C3-E938-D6EE9989B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1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E7C6-692F-A77D-B448-F5DC891C2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CFC2E-B0CA-A683-318C-A41B517D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5296592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2764CC-5240-42D8-E5BA-82620C3E87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515" y="1022466"/>
                <a:ext cx="11272059" cy="53338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Paper 3: </a:t>
                </a:r>
                <a:r>
                  <a:rPr lang="en-US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Efficient Hardware Implementation of Finite Field Arithmetic  AB+ C for Binary Ring-LWE Based Post-Quantum Cryptography [3]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Xie,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Jiafeng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Pengzhou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He, Xiaofang Wang, and Jose L. Imana. "Efficient Hardware Implementation of Finite Field Arithmetic  AB+ C  A B+ C for Binary Ring-LWE Based Post-Quantum Cryptography." 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IEEE Transactions on Emerging Topics in Computing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10, no. 2 (2021): 1222-1228. </a:t>
                </a:r>
              </a:p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Abstract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work proposes an efficient hardware architecture for finite field arithmetic, specifically the operation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over binary fields, targeting Binary Ring-LWE-based post-quantum cryptography.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focuses on reducing computational complexity and hardware resource usage while maintaining high throughput, making it suitable for resource-constrained cryptographic devices.</a:t>
                </a:r>
              </a:p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Principle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core operation implemented is: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elements in a binary finite field (GF(2^n)), and multiplication and addition are performed according to  binary field arithmetic rules.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 Principle: Efficient hardware mapping of polynomial multiplication and addition over GF(2^n) can drastically reduce gate count and latency, especially when optimized for bit-level operations in FPGAs/ASICs.</a:t>
                </a:r>
              </a:p>
              <a:p>
                <a:pPr marL="0" indent="0">
                  <a:buNone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52764CC-5240-42D8-E5BA-82620C3E87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515" y="1022466"/>
                <a:ext cx="11272059" cy="5333884"/>
              </a:xfrm>
              <a:blipFill>
                <a:blip r:embed="rId2"/>
                <a:stretch>
                  <a:fillRect l="-541" t="-1257" r="-9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569FD-5A22-B9ED-CD8C-B513E6E48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8FE1E-CF53-C54E-58EE-80A91C36F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64F81-FED5-D52C-7ED3-2D1D38043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E4492-9567-3BFB-CD2D-D7D9A3ED3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5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254C-DD03-59E9-E90A-082813F4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45A2-4716-1E21-541B-B604DD04A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5296592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66C19-ED04-1192-784D-B83B61326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16" y="1022466"/>
            <a:ext cx="10755284" cy="533388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3: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Hardware Implementation of Finite Field Arithmetic  AB+ C for Binary Ring-LWE Based Post-Quantum Cryptography[3].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0" indent="0">
              <a:buNone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5ACD4-0DF5-69C8-F138-878DE17E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803EE-9CF1-B02F-C538-0B9B5F22B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19BE2-37DA-EEE2-E501-6E287DE0B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12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AD48B-1092-E6F3-79DE-58913B33FC8F}"/>
              </a:ext>
            </a:extLst>
          </p:cNvPr>
          <p:cNvSpPr txBox="1"/>
          <p:nvPr/>
        </p:nvSpPr>
        <p:spPr>
          <a:xfrm>
            <a:off x="5624945" y="1755093"/>
            <a:ext cx="54960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demonstrates that careful architectural design for AB + C over binary fields can achieve both high-speed computation and low hardware overhead, making it highly practical for post-quantum cryptographic systems.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provides a foundation for implementing secure, lightweight cryptography in embedded systems without sacrificing performance.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CAFDFB-FA05-A60E-C384-98ACD6A18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16" y="2085872"/>
            <a:ext cx="4086562" cy="31174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21DF707-8356-7F50-6B27-1F3687EBC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87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928FB-D0CB-3B82-45CD-E2AE0E07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9E02-E009-580E-72BD-EDABD908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5296592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493B90-6B4C-C52F-8CCC-14E3569937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515" y="1022466"/>
                <a:ext cx="11272059" cy="533388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Paper 4: </a:t>
                </a:r>
                <a:r>
                  <a:rPr lang="en-US" sz="20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Lightweight hardware implementation of binary ring-LWE PQC accelerator [4].</a:t>
                </a:r>
              </a:p>
              <a:p>
                <a:pPr marL="0" indent="0" algn="just"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Lucas, Benjamin J., Ali Alwan, Marion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Murzello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Yazheng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Tu,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Pengzhou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He, Andrew J. Schwartz, David Guevara, Ujjwal Guin, Kyle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Juretus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:r>
                  <a:rPr lang="en-US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Jiafeng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Xie. "Lightweight hardware implementation of binary ring-LWE PQC accelerator." 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IEEE Computer Architecture Letters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21, no. 1 (2022): 17-20.</a:t>
                </a:r>
              </a:p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Abstract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Presents a lightweight</a:t>
                </a:r>
                <a:r>
                  <a:rPr lang="en-US" sz="1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FPGA/ASIC accelerator for the same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operation, targeting embedded and resource-constrained environments.</a:t>
                </a:r>
              </a:p>
              <a:p>
                <a:pPr algn="just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Implements pipeline and word-level parallelism to achieve high throughput with minimal logic utilization, making it suitable for IoT devices.</a:t>
                </a:r>
              </a:p>
              <a:p>
                <a:pPr marL="0" indent="0">
                  <a:buNone/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Principle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Leverages pipeline architecture and word-level parallel computation to accelerate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resource-constrained hardware.</a:t>
                </a:r>
              </a:p>
              <a:p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Integrates bit-level modular operations and careful dataflow scheduling to maintain low latency and minimal hardware footprint while computing binary polynomial arithmetic.</a:t>
                </a: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493B90-6B4C-C52F-8CCC-14E3569937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515" y="1022466"/>
                <a:ext cx="11272059" cy="5333884"/>
              </a:xfrm>
              <a:blipFill>
                <a:blip r:embed="rId2"/>
                <a:stretch>
                  <a:fillRect l="-541" t="-1257" r="-8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3E3AC-28D3-609D-6A91-26371E63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FB620-25BA-446D-6AA0-6C2BF52B6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8CFC9-F706-ADE6-B370-3CF29858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CC5633-2BB9-D64D-A001-25601D427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149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CE4FA-585B-9D8C-4E8D-D960F8DD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C2E5-486A-803A-64B4-53156B1C3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3" y="352367"/>
            <a:ext cx="5296592" cy="65734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CEF29-64F9-3CA0-BB08-18453B04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516" y="1022466"/>
            <a:ext cx="10755284" cy="5333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4: 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hardware implementation of binary ring-LWE PQC accelerator[4].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</a:t>
            </a:r>
          </a:p>
          <a:p>
            <a:pPr marL="0" indent="0">
              <a:buNone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F947F-93D5-6B34-600F-A34C02EC1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8618D-3867-39F3-66E0-0DE23DAB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67453-33CC-4ED7-9E71-5A297CF89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14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6A658-A8A9-E3CA-6880-D674FC2F1119}"/>
              </a:ext>
            </a:extLst>
          </p:cNvPr>
          <p:cNvSpPr txBox="1"/>
          <p:nvPr/>
        </p:nvSpPr>
        <p:spPr>
          <a:xfrm>
            <a:off x="5777345" y="1786613"/>
            <a:ext cx="549609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that high-speed PQC computation is feasible in low-area designs, emphasizing lightweight, energy-efficient architectures for embedded cryptography.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practical techniques for implementing binary polynomial arithmetic efficiently in real hardware.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F87D3D-D0E0-23BB-1A8B-3A86FCE8F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16" y="2273137"/>
            <a:ext cx="4089862" cy="36422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4CEBED-D59F-CF43-2576-0E829CAF7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40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AF95-D27E-DDFC-6040-C9A2F3DE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508" y="137370"/>
            <a:ext cx="7874528" cy="321009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LITERATURE SURVEY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30ACB1A-6F4D-4486-249C-50676E11EF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578810"/>
              </p:ext>
            </p:extLst>
          </p:nvPr>
        </p:nvGraphicFramePr>
        <p:xfrm>
          <a:off x="718457" y="633524"/>
          <a:ext cx="10755085" cy="5974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61959">
                  <a:extLst>
                    <a:ext uri="{9D8B030D-6E8A-4147-A177-3AD203B41FA5}">
                      <a16:colId xmlns:a16="http://schemas.microsoft.com/office/drawing/2014/main" val="3706004881"/>
                    </a:ext>
                  </a:extLst>
                </a:gridCol>
                <a:gridCol w="1940075">
                  <a:extLst>
                    <a:ext uri="{9D8B030D-6E8A-4147-A177-3AD203B41FA5}">
                      <a16:colId xmlns:a16="http://schemas.microsoft.com/office/drawing/2014/main" val="2104172406"/>
                    </a:ext>
                  </a:extLst>
                </a:gridCol>
                <a:gridCol w="2151017">
                  <a:extLst>
                    <a:ext uri="{9D8B030D-6E8A-4147-A177-3AD203B41FA5}">
                      <a16:colId xmlns:a16="http://schemas.microsoft.com/office/drawing/2014/main" val="4282031231"/>
                    </a:ext>
                  </a:extLst>
                </a:gridCol>
                <a:gridCol w="2151017">
                  <a:extLst>
                    <a:ext uri="{9D8B030D-6E8A-4147-A177-3AD203B41FA5}">
                      <a16:colId xmlns:a16="http://schemas.microsoft.com/office/drawing/2014/main" val="3600285427"/>
                    </a:ext>
                  </a:extLst>
                </a:gridCol>
                <a:gridCol w="2151017">
                  <a:extLst>
                    <a:ext uri="{9D8B030D-6E8A-4147-A177-3AD203B41FA5}">
                      <a16:colId xmlns:a16="http://schemas.microsoft.com/office/drawing/2014/main" val="1984265449"/>
                    </a:ext>
                  </a:extLst>
                </a:gridCol>
              </a:tblGrid>
              <a:tr h="54848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Title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Focus Area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Method/Approach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Contribution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Shortcomings / Limitations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060371"/>
                  </a:ext>
                </a:extLst>
              </a:tr>
              <a:tr h="1123082">
                <a:tc>
                  <a:txBody>
                    <a:bodyPr/>
                    <a:lstStyle/>
                    <a:p>
                      <a:r>
                        <a:rPr lang="en-US" sz="1600" b="1" i="1" dirty="0"/>
                        <a:t>High-Performance Instruction-Set Hardware Accelerator for Ring-Binary-LWE-Based Lightweight PQC [1]</a:t>
                      </a:r>
                      <a:endParaRPr lang="en-IN" sz="16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PQC, Instruction-set Accelerator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Instruction-set architecture, FPGA, negacyclic multiplication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instruction-set accelerator for RBLWE-ENC with complete crypto ops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paper forms foundation of this project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552942"/>
                  </a:ext>
                </a:extLst>
              </a:tr>
              <a:tr h="914137">
                <a:tc>
                  <a:txBody>
                    <a:bodyPr/>
                    <a:lstStyle/>
                    <a:p>
                      <a:r>
                        <a:rPr lang="en-US" sz="1600" b="1" i="1" dirty="0"/>
                        <a:t>Novel low-complexity polynomial multiplication over hybrid fields [2]</a:t>
                      </a:r>
                      <a:endParaRPr lang="en-IN" sz="16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Polynomial Multiplication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field approach, low-complexity arithmetic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complexity polynomial multiplication for binary Ring-LWE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only on multiplication kernel, not a full cryptosystem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850122"/>
                  </a:ext>
                </a:extLst>
              </a:tr>
              <a:tr h="705191">
                <a:tc>
                  <a:txBody>
                    <a:bodyPr/>
                    <a:lstStyle/>
                    <a:p>
                      <a:r>
                        <a:rPr lang="en-US" sz="1600" b="1" i="1" dirty="0"/>
                        <a:t>Special session: Advances in hardware PQC [5]</a:t>
                      </a:r>
                      <a:endParaRPr lang="en-IN" sz="16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PQC Hardware Survey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Survey/overview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 of hardware implementations of PQC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survey, does not propose new architectures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206932"/>
                  </a:ext>
                </a:extLst>
              </a:tr>
              <a:tr h="914137">
                <a:tc>
                  <a:txBody>
                    <a:bodyPr/>
                    <a:lstStyle/>
                    <a:p>
                      <a:r>
                        <a:rPr lang="en-US" sz="1600" b="1" i="1" dirty="0"/>
                        <a:t>Binary ring-LWE hardware with power side-channel countermeasures [6]</a:t>
                      </a:r>
                      <a:endParaRPr lang="en-IN" sz="16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Security-focused Hardware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Side-channel resistant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secure hardware for binary Ring-LWE against power attacks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Heavy focus on side-channel security, not performance/throughput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031573"/>
                  </a:ext>
                </a:extLst>
              </a:tr>
              <a:tr h="914137">
                <a:tc>
                  <a:txBody>
                    <a:bodyPr/>
                    <a:lstStyle/>
                    <a:p>
                      <a:r>
                        <a:rPr lang="en-US" sz="1600" b="1" i="1" dirty="0"/>
                        <a:t>Optimized hardware modular multiplication of binary ring LWE [7]</a:t>
                      </a:r>
                      <a:endParaRPr lang="en-IN" sz="1600" b="1" i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 Arithmetic Hardware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modular multiplication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High-performance modular arithmetic 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modular multiplication only. lacks integration with full RBLWE scheme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7591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24D521C-F331-36B2-6C2B-C4A8A281E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877" y="137370"/>
            <a:ext cx="1659392" cy="41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19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9B484-2AB6-8372-7323-BD1252CCC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59D5-EAA3-4C31-F49E-4E3FF9BF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81" y="290946"/>
            <a:ext cx="8257891" cy="287600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LITERATURE SURVEY (Contd.)</a:t>
            </a:r>
            <a:endParaRPr lang="en-IN" sz="2400" b="1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BD40D07-EFBC-815E-9D75-3A04EE0B98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821470"/>
              </p:ext>
            </p:extLst>
          </p:nvPr>
        </p:nvGraphicFramePr>
        <p:xfrm>
          <a:off x="345782" y="780314"/>
          <a:ext cx="11500436" cy="559301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93751">
                  <a:extLst>
                    <a:ext uri="{9D8B030D-6E8A-4147-A177-3AD203B41FA5}">
                      <a16:colId xmlns:a16="http://schemas.microsoft.com/office/drawing/2014/main" val="370600488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2104172406"/>
                    </a:ext>
                  </a:extLst>
                </a:gridCol>
                <a:gridCol w="2083471">
                  <a:extLst>
                    <a:ext uri="{9D8B030D-6E8A-4147-A177-3AD203B41FA5}">
                      <a16:colId xmlns:a16="http://schemas.microsoft.com/office/drawing/2014/main" val="4282031231"/>
                    </a:ext>
                  </a:extLst>
                </a:gridCol>
                <a:gridCol w="2286674">
                  <a:extLst>
                    <a:ext uri="{9D8B030D-6E8A-4147-A177-3AD203B41FA5}">
                      <a16:colId xmlns:a16="http://schemas.microsoft.com/office/drawing/2014/main" val="3600285427"/>
                    </a:ext>
                  </a:extLst>
                </a:gridCol>
                <a:gridCol w="2353740">
                  <a:extLst>
                    <a:ext uri="{9D8B030D-6E8A-4147-A177-3AD203B41FA5}">
                      <a16:colId xmlns:a16="http://schemas.microsoft.com/office/drawing/2014/main" val="1984265449"/>
                    </a:ext>
                  </a:extLst>
                </a:gridCol>
              </a:tblGrid>
              <a:tr h="483172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Title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Focus Area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Method/Approach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Contribution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Shortcomings / Limitations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060371"/>
                  </a:ext>
                </a:extLst>
              </a:tr>
              <a:tr h="805286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PQ cryptoprocessors optimized for IoT [8]</a:t>
                      </a:r>
                      <a:endParaRPr lang="en-IN" sz="16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PQC for IoT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Cryptoprocessors</a:t>
                      </a:r>
                      <a:endParaRPr lang="en-IN" sz="16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PQ Cryptoprocessors optimized for edge devices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PQC accelerator, not specifically tuned for binary Ring-LWE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552942"/>
                  </a:ext>
                </a:extLst>
              </a:tr>
              <a:tr h="805286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Hardware Implementation of Finite Field Arithmetic AB+C [3]</a:t>
                      </a:r>
                      <a:endParaRPr lang="en-IN" sz="16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Arithmetic Optimizations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Specialized finite field arithmetic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AB+C computation for binary Ring-LWE PQC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Optimizes arithmetic unit only. not a complete accelerator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4850122"/>
                  </a:ext>
                </a:extLst>
              </a:tr>
              <a:tr h="1173417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hardware implementation of binary ring-LWE PQC accelerator [4]</a:t>
                      </a:r>
                      <a:endParaRPr lang="en-IN" sz="16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PQC Accelerator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accelerator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Lightweight, resource-friendly RBLWE hardware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lightweight multiplier core; does not support full instruction-set programmability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7206932"/>
                  </a:ext>
                </a:extLst>
              </a:tr>
              <a:tr h="989351">
                <a:tc>
                  <a:txBody>
                    <a:bodyPr/>
                    <a:lstStyle/>
                    <a:p>
                      <a:r>
                        <a:rPr lang="en-IN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TINA: TMVP-initiated novel accelerator for lightweight Ring-LWE PQC [9]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Accelerator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TMVP-based novel architecture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accelerator method for lightweight Ring-LWE PQC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 to TMVP approach; flexibility for other RBLWE ops not addressed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4031573"/>
                  </a:ext>
                </a:extLst>
              </a:tr>
              <a:tr h="989351">
                <a:tc>
                  <a:txBody>
                    <a:bodyPr/>
                    <a:lstStyle/>
                    <a:p>
                      <a:r>
                        <a:rPr lang="en-US" sz="1600" b="1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and power efficient PQC for IoT devices [10]</a:t>
                      </a:r>
                      <a:endParaRPr lang="en-IN" sz="16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PQC for IoT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Area/power optimization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Energy-efficient PQ cryptosystem design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efficiency but lacks specialized design for RBLWE polynomial multiplication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27591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B16016D-67FF-02ED-4588-5ECCEB617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175" y="89144"/>
            <a:ext cx="1577093" cy="3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371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513D-CC65-D455-F6FB-C7B8B139A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193" y="309306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 OF POLYNOMIAL MULTIPLICATION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)Schoolbook method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D5822B-9516-0DA4-122E-A31B61B090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12" y="1767875"/>
            <a:ext cx="5163981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7906E-2753-1DEE-D004-989FD75A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86CE2-28C3-EFD7-FA45-06EA8F8B1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20F98-54A8-21F8-B8A7-6E9E1D6C6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17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2A3065-197A-250D-4EBA-4AE2751E1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009" y="1767876"/>
            <a:ext cx="4906479" cy="43513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89CF50-6111-F28D-0C40-7F10EB728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253" y="62544"/>
            <a:ext cx="1577093" cy="3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131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9ADA5-083E-AF33-5B3A-428F59D2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D25F0-4EFD-C9A8-ECE2-2C6D8EA81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127" y="462865"/>
            <a:ext cx="10781607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CALCULATIONS OF POLYNOMIAL MULTIPLICATION(Contd.)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ii) Negacyclic Polynomial Multiplication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343F3-8210-31B1-2FFB-7A32C12F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0E5F7-2A1B-582B-5247-C42A1751C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1EF5F-1C78-5C14-462A-07D4B64D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18</a:t>
            </a:fld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A106B3-10C0-254A-B501-9A53E010B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07062"/>
            <a:ext cx="5789641" cy="3043876"/>
          </a:xfrm>
          <a:prstGeom prst="rect">
            <a:avLst/>
          </a:prstGeom>
        </p:spPr>
      </p:pic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97BE97DA-A4AA-1830-4292-F2BF79434F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59" y="1788428"/>
            <a:ext cx="5867112" cy="4351338"/>
          </a:xfr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CDD1E7F-22F5-F78E-AA04-F52B35C93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1175" y="89144"/>
            <a:ext cx="1577093" cy="3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87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A2D9-C6CC-B79C-DAAE-316D71ADA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112676"/>
            <a:ext cx="6094931" cy="6583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BDCB68-047F-7EC9-357C-E7C4D61389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0528" y="828408"/>
                <a:ext cx="11188817" cy="5368444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Instruction &amp; Data Preparation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RAM-2 (Instruction Memory)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Stores operation commands and execution sequences for encryption, decryption, and key generation.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Instructions are loaded and decoded by the instruction analyzer.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RAM-1 (Data Memory)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Loads polynomial data (secret keys, public keys, messages, error/noise polynomials).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Serves as the central buffer for exchanging operands and results between all computation blocks.</a:t>
                </a:r>
              </a:p>
              <a:p>
                <a:pPr algn="just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Random Polynomial Generation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Sampler (TRNG)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Generates random binary polynomials for errors/noise and secret polynomials.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Streams binary values to RAM-1 for use in key generation and encryption.</a:t>
                </a:r>
              </a:p>
              <a:p>
                <a:pPr algn="just"/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Polynomial Multiplication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Polynomial Multiplier Core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Reads operands (e.g., secret key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public key/message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RAM-1.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Performs polynomial multiplication: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mod</m:t>
                    </m:r>
                    <m:r>
                      <m:rPr>
                        <m:nor/>
                      </m:rPr>
                      <a:rPr lang="en-US" sz="2000" i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  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ar-AE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sz="200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Writes result polynomial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back to RAM-1 for further computation.</a:t>
                </a:r>
              </a:p>
              <a:p>
                <a:pPr lvl="1"/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BDCB68-047F-7EC9-357C-E7C4D61389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0528" y="828408"/>
                <a:ext cx="11188817" cy="5368444"/>
              </a:xfrm>
              <a:blipFill>
                <a:blip r:embed="rId2"/>
                <a:stretch>
                  <a:fillRect l="-490" t="-1816" b="-1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FD150-BE76-0396-B741-0EC0B0791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992C8-8325-DB1E-DA5A-A73B74030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8DF0D-E972-BB00-8014-C1B3E4A0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19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0EDD88-1679-1C04-A753-791745A6C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92" y="66879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0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D8F8-5C48-F75C-3253-0F8D19E8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95988-ABE0-D484-308F-819FE12ACA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1591" y="1195941"/>
                <a:ext cx="11188817" cy="536844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Polynomial Addition</a:t>
                </a:r>
              </a:p>
              <a:p>
                <a:pPr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Polynomial Adder</a:t>
                </a:r>
              </a:p>
              <a:p>
                <a:pPr lvl="1"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Fetches integer-coefficient polynomials from RAM-1 (e.g., result of multiplication, encoded message).</a:t>
                </a:r>
              </a:p>
              <a:p>
                <a:pPr lvl="1"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Adds polynomials coefficient-wise, modulo 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using parallel hardware adders.</a:t>
                </a:r>
              </a:p>
              <a:p>
                <a:pPr lvl="1"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Updates RAM-1 with the summed result.</a:t>
                </a:r>
              </a:p>
              <a:p>
                <a:pPr lvl="1"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Binary Polynomial Addition</a:t>
                </a:r>
              </a:p>
              <a:p>
                <a:pPr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Polynomial Adder</a:t>
                </a:r>
              </a:p>
              <a:p>
                <a:pPr lvl="1"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Retrieves binary polynomials (error/noise, encoded binary message) and integer result polynomial from RAM-1.</a:t>
                </a:r>
              </a:p>
              <a:p>
                <a:pPr lvl="1"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Adds binary polynomial to result using XOR logic (no carry).</a:t>
                </a:r>
              </a:p>
              <a:p>
                <a:pPr lvl="1"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Stores final polynomial result (e.g., ciphertext or decrypted message) to RAM-1.</a:t>
                </a:r>
              </a:p>
              <a:p>
                <a:pPr lvl="1" algn="just"/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sz="2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6: Output/Finalize</a:t>
                </a:r>
              </a:p>
              <a:p>
                <a:pPr algn="just"/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Final processed ciphertext, message, or key polynomial is made available to the processor for transmission or further use.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endParaRPr lang="en-US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95988-ABE0-D484-308F-819FE12ACA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591" y="1195941"/>
                <a:ext cx="11188817" cy="5368444"/>
              </a:xfrm>
              <a:blipFill>
                <a:blip r:embed="rId2"/>
                <a:stretch>
                  <a:fillRect l="-490" t="-2157" r="-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60B73-C48C-49F6-3B03-5CD9A75E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4126E-B4C0-3BB8-577D-C9A151ED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4C109-1193-CC8A-682F-C5A3EAC1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D78341-A8F1-7E81-81C2-9077FB688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801" y="170896"/>
            <a:ext cx="2400508" cy="60203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786DE77-4A98-D207-9E9D-E136F8EF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91" y="293615"/>
            <a:ext cx="6094931" cy="65833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</p:spTree>
    <p:extLst>
      <p:ext uri="{BB962C8B-B14F-4D97-AF65-F5344CB8AC3E}">
        <p14:creationId xmlns:p14="http://schemas.microsoft.com/office/powerpoint/2010/main" val="3204718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736D8-9273-D3F4-51E1-BB9F92221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420" y="690329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F5F595E-1123-A840-6D63-18A5433744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646" y="1483219"/>
            <a:ext cx="6393064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437C5-E072-65C0-DE00-853A9154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25321-E72F-2ACC-23AF-D49A9BBFF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5F238-3AA1-67E1-2796-11EB622B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21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3A710C-2629-5968-114D-084D7B1E735F}"/>
              </a:ext>
            </a:extLst>
          </p:cNvPr>
          <p:cNvSpPr txBox="1"/>
          <p:nvPr/>
        </p:nvSpPr>
        <p:spPr>
          <a:xfrm>
            <a:off x="3390075" y="5869447"/>
            <a:ext cx="6290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1.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Instruction-set accelerator architecture for RBLWE-ENC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CD6202-D1F2-38B7-37A3-2D7D059B0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422" y="136525"/>
            <a:ext cx="2400508" cy="602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13C9F70-6166-6F7D-A33D-F3A061FE8534}"/>
              </a:ext>
            </a:extLst>
          </p:cNvPr>
          <p:cNvSpPr txBox="1">
            <a:spLocks/>
          </p:cNvSpPr>
          <p:nvPr/>
        </p:nvSpPr>
        <p:spPr>
          <a:xfrm>
            <a:off x="440265" y="396524"/>
            <a:ext cx="6094931" cy="658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510CA4-4A77-ACAE-E020-A690E40E2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196" y="2015892"/>
            <a:ext cx="4977555" cy="223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09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83B2A-96E0-5717-92EF-1AD65CEAB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34304-4BD3-3333-6FAA-B6B57B1B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20" y="41069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Binary Sampler Circuit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C1143-02F0-3C07-99BE-6649C38E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F0BCF-2BF1-7E91-6CF5-FCF95363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5931A-FDCE-0EBB-8D8D-F7EE3CB3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22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97D4B-0650-0F89-2442-328DE8C16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22" y="136525"/>
            <a:ext cx="2400508" cy="602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25A43E6-A9CA-9FEE-5F19-5A421A6CB723}"/>
              </a:ext>
            </a:extLst>
          </p:cNvPr>
          <p:cNvSpPr txBox="1">
            <a:spLocks/>
          </p:cNvSpPr>
          <p:nvPr/>
        </p:nvSpPr>
        <p:spPr>
          <a:xfrm>
            <a:off x="507999" y="112676"/>
            <a:ext cx="6094931" cy="658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EEC7ED-D17B-A7C3-EC93-42F01527B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72" y="1510146"/>
            <a:ext cx="6457466" cy="347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874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62ABB-B870-14CF-88EF-6F5FE7EB2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AD4AA-9E2C-ACF2-8D3D-8B19FF083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20" y="41069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LFSR-based Binary Sampler Circuit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EDC23-C8FB-75D8-8DB2-3ED43F8A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22F9E-D317-F232-5E0B-33C4E8F6E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8602-9C0B-2FD0-63EF-B4B35B9F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23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F4314-08C2-D9A9-0244-EC07A448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22" y="136525"/>
            <a:ext cx="2400508" cy="602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BC0C174-5397-CD86-8612-226A7DCB528A}"/>
              </a:ext>
            </a:extLst>
          </p:cNvPr>
          <p:cNvSpPr txBox="1">
            <a:spLocks/>
          </p:cNvSpPr>
          <p:nvPr/>
        </p:nvSpPr>
        <p:spPr>
          <a:xfrm>
            <a:off x="507999" y="112676"/>
            <a:ext cx="6094931" cy="658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DA20FB-CD19-1387-ED05-1133E3BAD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432" y="1455341"/>
            <a:ext cx="7029989" cy="388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52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3FFF-1D85-8454-5C22-62653FB6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DE421-4B19-ADC7-C52F-FFFD90C2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354" y="738557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Adder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543F8-E3E0-65D3-1FF4-9D925ED67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CDF3F-63B3-3FD4-0DBD-E8BDB26FD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1F10-AB2E-6EFF-9D51-4D133E04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24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D27C57-CAC9-C726-8B82-027D0670C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22" y="136525"/>
            <a:ext cx="2400508" cy="602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AE1560A-6ACD-4F49-C810-C6DD24F1D2DA}"/>
              </a:ext>
            </a:extLst>
          </p:cNvPr>
          <p:cNvSpPr txBox="1">
            <a:spLocks/>
          </p:cNvSpPr>
          <p:nvPr/>
        </p:nvSpPr>
        <p:spPr>
          <a:xfrm>
            <a:off x="533934" y="580617"/>
            <a:ext cx="6094931" cy="658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F6BB00-48ED-0ACA-41F8-FB30EA775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180" y="1739340"/>
            <a:ext cx="9379307" cy="361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81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F5DA-B53A-27B3-DFE8-61E37699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AFD1E-E6EE-E15F-2692-EC874FC1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738557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Polynomial Adder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49616-F60D-41B0-D06A-392E9D74D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E8D71-DCED-3196-00CE-97A75CD23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ECFF4-1AB9-055E-5E3B-29175A163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25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94A2A4-A235-7F62-C295-83F90809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22" y="136525"/>
            <a:ext cx="2400508" cy="602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0FE9B37-2454-0872-5FE5-48EFCE26B344}"/>
              </a:ext>
            </a:extLst>
          </p:cNvPr>
          <p:cNvSpPr txBox="1">
            <a:spLocks/>
          </p:cNvSpPr>
          <p:nvPr/>
        </p:nvSpPr>
        <p:spPr>
          <a:xfrm>
            <a:off x="304799" y="437541"/>
            <a:ext cx="6094931" cy="658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2AF98C-DA5F-9423-DB13-8C1C17EA5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717" y="1892314"/>
            <a:ext cx="7430565" cy="278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0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4AC7F-4080-B514-59E7-32C236C3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0E2E7-6A71-F4A1-C299-7E9618C7F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20" y="41069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Multiplier Core Architecture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7B077-B5ED-23F9-B7A5-F430BC27F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5F842-BAB2-1280-2DF4-EA2F6CFF6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EF60C-5098-4177-A751-C1DDEA07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26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964218-C934-03A0-A8F5-6E21B73E9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22" y="136525"/>
            <a:ext cx="2400508" cy="602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6EF3AEF-FFAC-677A-CF2E-CA0E1E8503EC}"/>
              </a:ext>
            </a:extLst>
          </p:cNvPr>
          <p:cNvSpPr txBox="1">
            <a:spLocks/>
          </p:cNvSpPr>
          <p:nvPr/>
        </p:nvSpPr>
        <p:spPr>
          <a:xfrm>
            <a:off x="507999" y="112676"/>
            <a:ext cx="6094931" cy="658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861772-F6A0-F97E-B8A3-38422BB2A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77" y="1294819"/>
            <a:ext cx="9531946" cy="464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147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CAFA2-EA35-3F42-4DF3-CD9180249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2980E-01A5-C448-95FE-E4868974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20" y="41069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Finite State Machine and RAM Block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063A7-8D59-B680-410A-E34B83DB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538BA-B882-C8E1-E742-2BF6AA49C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6FB17-6670-99D7-AE21-7C0CCC9D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27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7B25BA-3729-CA15-CF07-88FD3A15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22" y="136525"/>
            <a:ext cx="2400508" cy="602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37E0A39-7B95-F665-7184-56F1E971EEC0}"/>
              </a:ext>
            </a:extLst>
          </p:cNvPr>
          <p:cNvSpPr txBox="1">
            <a:spLocks/>
          </p:cNvSpPr>
          <p:nvPr/>
        </p:nvSpPr>
        <p:spPr>
          <a:xfrm>
            <a:off x="507999" y="112676"/>
            <a:ext cx="6094931" cy="658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2EA94-9265-6D8B-3B98-E9E71A80F3A0}"/>
              </a:ext>
            </a:extLst>
          </p:cNvPr>
          <p:cNvSpPr txBox="1"/>
          <p:nvPr/>
        </p:nvSpPr>
        <p:spPr>
          <a:xfrm>
            <a:off x="731520" y="1591056"/>
            <a:ext cx="103144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units manage data flow. Control unit directs the binary sampler, polynomial multiplier, polynomial adder, and binary polynomial adder.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RAM-1 stores/reads data from the input/output interface and the main arithmetic blocks. The word-size of RAM-1 is 32-bit, enhancing resource utilization.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9E5B77-21E7-B0C3-1278-445781DCA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74" y="3344250"/>
            <a:ext cx="10364646" cy="240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27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4DB11-10DB-86DA-1165-7150210A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78AC-C9FC-9C63-3D38-CBB10C0E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20" y="41069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Top Module (Instruction Decoder)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C8D05-8AE2-0BCB-7122-645A3BD4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EC52B-388E-C7B2-0E11-5310C510A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7A86C-D659-7A7A-1F89-64705B1AA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28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335C46-563B-66AA-181A-CE65E873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0422" y="136525"/>
            <a:ext cx="2400508" cy="60203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2AC20FC-3C57-BF56-1198-002EE62077FC}"/>
              </a:ext>
            </a:extLst>
          </p:cNvPr>
          <p:cNvSpPr txBox="1">
            <a:spLocks/>
          </p:cNvSpPr>
          <p:nvPr/>
        </p:nvSpPr>
        <p:spPr>
          <a:xfrm>
            <a:off x="507999" y="112676"/>
            <a:ext cx="6094931" cy="658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94B5D1-A602-F62A-B68A-51FB33539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5624" y="1899001"/>
            <a:ext cx="8408052" cy="322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16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E1C2-476B-5DC3-C873-EDEE12B3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EC8B8-304B-1EA9-E252-95BEC58EB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196878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Binary Sampler Output Waveform</a:t>
            </a: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4FF20-8F07-9633-B20D-D5E6EA8F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3FAB9-F19C-CFAC-5F73-9B575F22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C4C5F-189C-4235-B417-EC8C68DA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29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03FA73-041B-B572-91D7-184BE4565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06F6BF-BB8B-51FA-5A3A-F66B2DB8A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34325"/>
            <a:ext cx="11358666" cy="2280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09033F-8C1C-3F45-A3C7-8650CF078A0D}"/>
              </a:ext>
            </a:extLst>
          </p:cNvPr>
          <p:cNvSpPr txBox="1"/>
          <p:nvPr/>
        </p:nvSpPr>
        <p:spPr>
          <a:xfrm>
            <a:off x="574513" y="4305669"/>
            <a:ext cx="1013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sampler is a true random number generator (TRNG) producing </a:t>
            </a:r>
            <a:r>
              <a:rPr lang="en-IN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32-bit random binary values in one cycle.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464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B83D2-CD91-25C7-7AD9-01E794E2E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5B0E6-2829-390D-BBF4-E1B60A60E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52FA-6DD3-44E0-C3C8-97A24AEE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196878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LFSR-based Sampler Output Waveform</a:t>
            </a: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A6199-F18B-39B9-7068-C66291423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5400F-A286-C703-9D90-E18745FE2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38FCE-38D2-B2FD-ED6C-EED3B98C3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415740-67AB-5BDF-C945-89133DDA5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7B25CC-C3A0-5FA3-4971-4F6B8047A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14" y="1919287"/>
            <a:ext cx="7956666" cy="319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285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DB8D6-CEB6-1B57-ED37-C036C92C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DD78-5C30-BEC7-BB20-57E7B4C92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4E663-5AB4-9B9D-4AA8-6F213FCB4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Adder Output Waveform</a:t>
            </a: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BADCA-E94A-E290-71AB-869C9BFC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22B48-A24D-A8D7-698C-6ECF4821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B5E75-4B86-5A6A-F7BC-09FFF8AE0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2B9A8C-3AA3-F4C3-D46A-FB1AB3F78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28A97F-5A24-6D05-8396-76B6F4784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14" y="2016917"/>
            <a:ext cx="11280371" cy="77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65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D3016-299E-F0CF-B3E4-E678D1624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183B9-6341-50E6-FEB1-48630449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FDB9D-07ED-59A9-6011-CD0ABC1CB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Polynomial Adder Output Waveform</a:t>
            </a: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EB3F-5F72-D502-696F-66CBCF86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42E95-7A4F-16CF-B9E0-D7ED2685E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43BA4-E209-1C5E-66AF-A1DF7384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32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A74B8A-9482-D64C-CCB7-875D32C77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6B8296-11B6-CA2D-2DA6-9C9F937FF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8" y="1923047"/>
            <a:ext cx="11987004" cy="130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26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00CFE-E04E-773D-3E12-92F8E3320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1293-F87B-2A1C-BD78-937636310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691DC-A0B0-48B4-F394-8ECB258E5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Polynomial Multiplier Output </a:t>
            </a: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9A31D3-681B-78B9-7CA0-0019703E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BE22E-D196-5469-21D5-86850562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CAD64-8F8D-B8BE-5870-CC0A0D44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0F9AAF-7993-2018-5CDB-B444A64AF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86E5CE-770F-E9FD-CBBC-CCADC1C29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44" y="1792351"/>
            <a:ext cx="5578955" cy="439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20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EDDC2-E10A-8D86-409B-E9FCD7E6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B6880-D654-1099-5861-16B4926D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D5DD8-D255-B2FE-858F-E1452FE25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a)Instruction Decoder opcode 00001 (Polynomial Multiplication)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644B6-5E20-FFC8-1626-A90B15FE3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B3A96-A968-C50F-3791-C0988E106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BC70F-C366-73BE-EB0E-2494BE36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B3AADA-095A-5974-87A9-28436551C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D34CEC-0540-AA36-9E5C-EDBA510CF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59" y="2047823"/>
            <a:ext cx="8827700" cy="316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039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2F258-C3BA-39AC-AE21-7FF0379A9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A65B9-C2FC-AEB4-A1ED-56349263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AF94D-88F1-2229-E8C8-7FA831582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b)Opcode 00010 (Polynomial Addition without Error)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7831B-C47F-E83C-81C8-60E547051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EF927-277D-F6ED-0835-41C3E012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6D3F4-CFC6-9B80-BC4E-990CA6F8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6D6E86-E1FA-46B6-1252-72ED9C834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B6767A-9CD5-2D13-9977-122358872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14" y="1966486"/>
            <a:ext cx="8322835" cy="349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867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2A63D-F6C5-DC20-AB5D-F967FDE8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7AEA-066A-81AB-C1B2-109D35EB9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6434C-FCCF-05C1-55F8-25DF85DB1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c)Opcode 00011 (Binary Polynomial Addition)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B6910-7E0E-B0AA-9181-4E3899B8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B1D42-2EB1-31EC-464F-006FEF01B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BA350-08BC-8A5B-EB96-830BD590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BC0E93-87BB-E0C6-C963-E7DCAACAA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DF1A24-115F-91BD-45D9-50BDE469B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14" y="1792351"/>
            <a:ext cx="8785340" cy="357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91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A0C7-2B3D-2B63-B5EC-E42E395E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1B6D-C431-FAC4-9D12-C604D7FE4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6B4D3-54AD-18F2-83C8-C891C0EB5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d)Opcode 00100 (Binary Sampler)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335D5-CF54-8429-9190-39CA4B9D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61509-373B-0C23-467D-D8D933D28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CEB70-F1D5-17BC-0DDA-96367651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457D37-A0A8-B2D1-41AA-2A9DCA45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232A1A-048E-A607-AB64-D23F775DD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943902"/>
            <a:ext cx="9324124" cy="384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65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AB66B-DAB3-E2C7-C7EA-7E218F20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336E1-D82D-A971-142E-4BB055940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RESULTS(Contd.)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150BE-A971-B107-51EB-4DB1372FF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e)Opcode 00110 (Polynomial Addition with Error)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86C0F-F4CD-0F57-E785-D32FB37A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B72E4-CDFE-35FE-2EFC-D94FEF3F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68B90-13CB-720B-FC32-58D86144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56288C-98C2-DA46-487C-11067CD97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63F1F6-9446-09CD-0CF8-342BBB3AB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03" y="1881028"/>
            <a:ext cx="8505825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922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D4966-8B22-74B2-2F48-43C08520B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2B6C-C09E-E774-AF1B-B0938A70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ANALYSIS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51047-D8FA-972B-6476-A4C91F62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Results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a)Negacyclic Polynomial Multiplier Vs Hybrid Field Multiplier(Paper 2)</a:t>
            </a: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241A6-AEB5-D072-5300-9DB424F4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A793C-44B1-9AB5-12FC-9918FDAD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4AE9F-96C4-952F-31ED-446F37FE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39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B08B83-D0FF-0AD1-9F61-413E69090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0E42AF-6A80-1B5A-F47C-7F5D75C29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50" y="2439928"/>
            <a:ext cx="8838681" cy="280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0585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07F3-B3E2-F385-BFDC-165151E3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9DDB-DBEB-37B0-66F3-19B6D8353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ANALYSIS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BFE54-722E-4BFD-6E2A-AB0E2D3A2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Results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Conventional Sampler Vs Enhanced Sampler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00731-2580-AAFF-FEB3-AE0A2ED1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76A29-3750-6742-83EA-1A9A966F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8F8C6-83A2-0B4C-19EA-52D88ECF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40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F36B8B-8014-1019-D040-E5F6EE243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D974C2-556E-C6F4-B9C9-993583D98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00" y="2454156"/>
            <a:ext cx="8758270" cy="283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2632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238E-D438-A253-9CBC-AB13836F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BB07-4AE7-0801-52A1-97139F27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1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ANALYSIS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2B037-1178-9E22-E21B-F9F6C6A8C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814" y="1205345"/>
            <a:ext cx="11280371" cy="5012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Results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c)Area, Power and Timing Reports for complete Instruction set accelerator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50FB6-6349-295B-4CD2-8D3D7202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B065E-ACE3-E586-BE89-81D0F84A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FB3A7-E144-7D2D-E8EB-0EF6F570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41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2FD357-D186-AEF8-C3FD-962CDB70A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59" y="136525"/>
            <a:ext cx="2400508" cy="602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A53489-E4F7-12B2-5A6A-32609709C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560889"/>
            <a:ext cx="5836349" cy="27717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F489E6-2D2D-3D4B-E8A3-ED7093BF309F}"/>
              </a:ext>
            </a:extLst>
          </p:cNvPr>
          <p:cNvSpPr txBox="1"/>
          <p:nvPr/>
        </p:nvSpPr>
        <p:spPr>
          <a:xfrm>
            <a:off x="1005840" y="2130552"/>
            <a:ext cx="950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5B8522-FAD3-CEC9-AB62-8D9FE41B8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611519"/>
            <a:ext cx="4829843" cy="26735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F56BA8A-D593-E5E7-B2B2-35C6492DCA2C}"/>
              </a:ext>
            </a:extLst>
          </p:cNvPr>
          <p:cNvSpPr txBox="1"/>
          <p:nvPr/>
        </p:nvSpPr>
        <p:spPr>
          <a:xfrm>
            <a:off x="6556248" y="2130552"/>
            <a:ext cx="1419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8755DB-EC40-C45E-A012-E14AF5078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5514508"/>
            <a:ext cx="5905500" cy="7143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B8D46E6-0AF4-7C3E-432D-90DD87BC178F}"/>
              </a:ext>
            </a:extLst>
          </p:cNvPr>
          <p:cNvSpPr txBox="1"/>
          <p:nvPr/>
        </p:nvSpPr>
        <p:spPr>
          <a:xfrm>
            <a:off x="2980944" y="5652654"/>
            <a:ext cx="81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3298677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EFBA-C992-E3A1-D63F-5671D0248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29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DONE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93EB11-E8D8-07CC-C0BA-6827E9D501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1638" y="1361642"/>
                <a:ext cx="10993582" cy="4994708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 algn="just"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Verified the mathematical derivation for efficient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negacyclic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polynomial multiplication by manual hand calculations, ensuring correct modular reduction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—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cross-checked results against the baseline schoolbook multiplication to confirm correctness and consistency.</a:t>
                </a:r>
              </a:p>
              <a:p>
                <a:pPr marL="342900" indent="-342900" algn="just">
                  <a:buAutoNum type="arabicPeriod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AutoNum type="arabicPeriod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Architecture of the major blocks: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Binary Sampler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Polynomial Adder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Binary Polynomial Adder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Polynomial Multiplier</a:t>
                </a:r>
              </a:p>
              <a:p>
                <a:pPr algn="just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Instruction Decoder</a:t>
                </a:r>
              </a:p>
              <a:p>
                <a:pPr algn="just"/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Comparative analysis of Polynomial Multiplier of proposed design vs similar existing design [2], also comparison of performance of conventional vs enhanced LFSR-based Binary Sampler</a:t>
                </a:r>
              </a:p>
              <a:p>
                <a:pPr marL="0" indent="0">
                  <a:buNone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eriod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/>
                </a:pP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93EB11-E8D8-07CC-C0BA-6827E9D501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1638" y="1361642"/>
                <a:ext cx="10993582" cy="4994708"/>
              </a:xfrm>
              <a:blipFill>
                <a:blip r:embed="rId2"/>
                <a:stretch>
                  <a:fillRect l="-555" t="-1707" r="-4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44518-1A7D-8333-5132-CC5DEA882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7EE8F-F22F-4599-84A0-960893001B04}" type="datetime1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D56BD-9036-50ED-395F-019A0AE59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ADE90-F736-493B-9C02-A68209A5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42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D8F523-57A9-0589-6F6A-5036B2E73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238" y="79005"/>
            <a:ext cx="2400508" cy="60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435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389E-3650-15B7-216B-26FE2839D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F856143-7BDB-5186-B0A6-614B7F89D7B2}"/>
              </a:ext>
            </a:extLst>
          </p:cNvPr>
          <p:cNvSpPr txBox="1"/>
          <p:nvPr/>
        </p:nvSpPr>
        <p:spPr>
          <a:xfrm>
            <a:off x="338743" y="418007"/>
            <a:ext cx="9123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PLAN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0EF3C-53EC-5533-E2DE-925670C82E4F}"/>
              </a:ext>
            </a:extLst>
          </p:cNvPr>
          <p:cNvSpPr txBox="1"/>
          <p:nvPr/>
        </p:nvSpPr>
        <p:spPr>
          <a:xfrm>
            <a:off x="3083444" y="5581143"/>
            <a:ext cx="72112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B2A91-A310-63F0-C77C-58D287C4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FA46B-84F4-4292-9ED6-6F326886DACC}" type="datetime1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295DC-743D-E3F2-75D7-0B81AAAEF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82C6690-8DC2-21B7-350C-8606F18C7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43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659679-6454-EF40-A6FF-1516FB9EE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48FF55-4D89-3F6D-3BE8-0E6B815CF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256" y="1144571"/>
            <a:ext cx="7863362" cy="483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209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FA8A9E-C2B5-9B81-268E-3BEF9D27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B0D83A-6299-3924-BCF5-BAC5DBE35257}"/>
              </a:ext>
            </a:extLst>
          </p:cNvPr>
          <p:cNvSpPr txBox="1"/>
          <p:nvPr/>
        </p:nvSpPr>
        <p:spPr>
          <a:xfrm>
            <a:off x="217607" y="0"/>
            <a:ext cx="11756786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He, T. Bao and J. Xie, "High-Performance Instruction-Set Hardware Accelerator for Ring-Binary-LWE-Based Lightweight PQC," in IEEE Transactions on Very Large Scale Integration (VLSI) Systems, vol. 33, no. 5, pp. 1417-1421, May 2025,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10.1109/TVLSI.2025.3538874.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He, U. Guin, and J. Xie, “Novel low-complexity polynomial multiplication over hybrid fields for efficient implementation of binary ring-LWE post-quantum cryptography,” IEEE J. Emerg. Sel. Topics Circuits Syst., vol. 11, no. 2, pp. 383–394, Jun. 2021.</a:t>
            </a:r>
          </a:p>
          <a:p>
            <a:pPr algn="just" fontAlgn="base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Jiafeng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Pengzhou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He, Xiaofang Wang, and Jose L. Imana. "Efficient Hardware Implementation of Finite Field Arithmetic  AB+ C  A B+ C for Binary Ring-LWE Based Post-Quantum Cryptography."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Emerging Topics in Computing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10, no. 2 (2021): 1222-1228. </a:t>
            </a:r>
          </a:p>
          <a:p>
            <a:pPr algn="just" fontAlgn="base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base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Lucas, Benjamin J., Ali Alwan, Marion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Murzello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Yazheng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Pengzhou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He, Andrew J. Schwartz, David Guevara, Ujjwal Guin, Kyle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Juretus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Jiafeng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Xie. "Lightweight hardware implementation of binary ring-LWE PQC accelerator."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Computer Architecture Letters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21, no. 1 (2022): 17-20.</a:t>
            </a:r>
          </a:p>
          <a:p>
            <a:pPr lvl="0" algn="just" fontAlgn="base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J. Xie, K. Basu, K. Gaj, and U. Guin, “Special session: The recent advance in hardware implementation of post-quantum cryptography,” in Proc. IEEE 38th VLSI Test Symp. (VTS), Apr. 2020, pp. 1–10. </a:t>
            </a:r>
          </a:p>
          <a:p>
            <a:pPr lvl="0" algn="just" fontAlgn="base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Aysu, M.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Orshansky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Tiwari, “Binary ring-LWE hardware with power side-channel countermeasures,” in Proc. Design, Autom. Test Eur. Conf.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Exhib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(DATE), Mar. 2018, pp. 1253– 1258. 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44864-46E1-45F0-F909-4CA26995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E026-78A4-4385-BB66-D626A44B9FEB}" type="datetime1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26134-C02B-116C-E229-C37ED992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9C025-6D05-B080-B9A5-04AD8D81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44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6939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A619B-CB48-89C8-5A1E-00AF159C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FF6A10-54A2-EA7D-67D8-ECF352C06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9C8DF2-891E-6014-ECF3-982C6BD642FF}"/>
              </a:ext>
            </a:extLst>
          </p:cNvPr>
          <p:cNvSpPr txBox="1"/>
          <p:nvPr/>
        </p:nvSpPr>
        <p:spPr>
          <a:xfrm>
            <a:off x="209077" y="9779"/>
            <a:ext cx="10791155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Shahbazi and S.-B. Ko, “An optimized hardware implementation of modular multiplication of binary ring LWE,” IEEE Trans. Emerg. Topics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11, no. 3, pp. 1–5, Jun. 2023. 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Ebrahimi, Shahriar, Siavash Bayat-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Sarmadi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Hatameh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Mosanaei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-Boorani. "Post-quantum cryptoprocessors optimized for edge and resource-constrained devices in IoT."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Journal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6, no. 3 (2019): 5500-5507.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Xie,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Jiafeng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Pengzhou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He, Xiaofang Wang, and Jose L. Imana. "Efficient Hardware Implementation of Finite Field Arithmetic  AB+ C  A B+ C for Binary Ring-LWE Based Post-Quantum Cryptography."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Emerging Topics in Computing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10, no. 2 (2021): 1222-1228. </a:t>
            </a:r>
          </a:p>
          <a:p>
            <a:pPr lvl="0" algn="just" fontAlgn="base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Bao, Tianyou,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Pengzhou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He, Shi Bai,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Jiafeng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Xie. "TINA: TMVP-initiated novel accelerator for lightweight ring-LWE-based PQC." 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Very Large Scale Integration (VLSI) Systems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32, no. 5 (2023): 870-882</a:t>
            </a:r>
            <a:r>
              <a:rPr lang="en-US" sz="1600" dirty="0"/>
              <a:t>.</a:t>
            </a:r>
          </a:p>
          <a:p>
            <a:pPr algn="just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S. R. P. V, S. Sanath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Potnuru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S. Venkatesh and S. Agrawal, "Design and Implementation of Efficient Stochastic Number Generator," 2021 Fourth International Conference on Electrical, Computer and Communication Technologies (ICECCT), Erode, India, 2021, pp. 1-7,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10.1109/ICECCT52121.2021.9616758. keywords: {Power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demand;Computational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modeling;Stochastic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processes;Switches;Tools;Shift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registers;Generators;Soft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computing;stochastic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generator;non-linear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feedback shift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register;random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source;probability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conversion circuit},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D9AA0F-B22B-1917-1CF3-12DE73B72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E026-78A4-4385-BB66-D626A44B9FEB}" type="datetime1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45450-9A65-BD16-B577-CD997B51A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Dept. of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FDEDC-F4ED-387B-3125-65DDE4F70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45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15880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0D83A-6299-3924-BCF5-BAC5DBE35257}"/>
              </a:ext>
            </a:extLst>
          </p:cNvPr>
          <p:cNvSpPr txBox="1"/>
          <p:nvPr/>
        </p:nvSpPr>
        <p:spPr>
          <a:xfrm>
            <a:off x="738027" y="439763"/>
            <a:ext cx="1071594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400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B44864-46E1-45F0-F909-4CA26995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AE026-78A4-4385-BB66-D626A44B9FEB}" type="datetime1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26134-C02B-116C-E229-C37ED992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ECE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9C025-6D05-B080-B9A5-04AD8D81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1F5D5-6ECC-459E-A0F0-ECCD5DF120E7}" type="slidenum">
              <a:rPr lang="en-IN" smtClean="0"/>
              <a:t>46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F06D1D-F14E-1869-12EF-84D5ABCCF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1492" y="0"/>
            <a:ext cx="2400508" cy="6020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68C14B-AB65-9B69-48B0-4592218D8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212" y="1935351"/>
            <a:ext cx="4874188" cy="3231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5411</TotalTime>
  <Words>3468</Words>
  <Application>Microsoft Office PowerPoint</Application>
  <PresentationFormat>Widescreen</PresentationFormat>
  <Paragraphs>523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Arial</vt:lpstr>
      <vt:lpstr>Arial Black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LITERATURE SURVEY</vt:lpstr>
      <vt:lpstr>LITERATURE SURVEY (Contd.) </vt:lpstr>
      <vt:lpstr>LITERATURE SURVEY (Contd.) </vt:lpstr>
      <vt:lpstr>LITERATURE SURVEY(Contd.)</vt:lpstr>
      <vt:lpstr>LITERATURE SURVEY(Contd.)</vt:lpstr>
      <vt:lpstr>LITERATURE SURVEY(Contd.)</vt:lpstr>
      <vt:lpstr>LITERATURE SURVEY(Contd.)</vt:lpstr>
      <vt:lpstr>LITERATURE SURVEY(Contd.)</vt:lpstr>
      <vt:lpstr>LITERATURE SURVEY(Contd.)</vt:lpstr>
      <vt:lpstr>SUMMARY OF LITERATURE SURVEY</vt:lpstr>
      <vt:lpstr>SUMMARY OF LITERATURE SURVEY (Contd.)</vt:lpstr>
      <vt:lpstr>CALCULATIONS OF POLYNOMIAL MULTIPLICATION  i)Schoolbook method </vt:lpstr>
      <vt:lpstr>CALCULATIONS OF POLYNOMIAL MULTIPLICATION(Contd.)  ii) Negacyclic Polynomial Multiplication </vt:lpstr>
      <vt:lpstr>DESIGN AND IMPLEMENTATION </vt:lpstr>
      <vt:lpstr>DESIGN AND IMPLEMENTATION </vt:lpstr>
      <vt:lpstr>BLOCK DIAGRAM</vt:lpstr>
      <vt:lpstr>Conventional Binary Sampler Circuit </vt:lpstr>
      <vt:lpstr>Enhanced LFSR-based Binary Sampler Circuit </vt:lpstr>
      <vt:lpstr>Polynomial Adder Architecture</vt:lpstr>
      <vt:lpstr>Binary Polynomial Adder Architecture</vt:lpstr>
      <vt:lpstr>Polynomial Multiplier Core Architecture</vt:lpstr>
      <vt:lpstr>Control Finite State Machine and RAM Block</vt:lpstr>
      <vt:lpstr>Final Top Module (Instruction Decoder)</vt:lpstr>
      <vt:lpstr>SIMULATION RESULTS</vt:lpstr>
      <vt:lpstr>SIMULATION RESULTS</vt:lpstr>
      <vt:lpstr>SIMULATION RESULTS(Contd.)</vt:lpstr>
      <vt:lpstr>SIMULATION RESULTS(Contd.)</vt:lpstr>
      <vt:lpstr>SIMULATION RESULTS(Contd.)</vt:lpstr>
      <vt:lpstr>SIMULATION RESULTS(Contd.)</vt:lpstr>
      <vt:lpstr>SIMULATION RESULTS(Contd.)</vt:lpstr>
      <vt:lpstr>SIMULATION RESULTS(Contd.)</vt:lpstr>
      <vt:lpstr>SIMULATION RESULTS(Contd.)</vt:lpstr>
      <vt:lpstr>SIMULATION RESULTS(Contd.)</vt:lpstr>
      <vt:lpstr>PARAMETER ANALYSIS RESULTS</vt:lpstr>
      <vt:lpstr>PARAMETER ANALYSIS RESULTS</vt:lpstr>
      <vt:lpstr>PARAMETER ANALYSIS RESULTS</vt:lpstr>
      <vt:lpstr>WORK DONE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sahithi gongada</dc:creator>
  <cp:lastModifiedBy>Lenovo</cp:lastModifiedBy>
  <cp:revision>66</cp:revision>
  <dcterms:created xsi:type="dcterms:W3CDTF">2023-08-21T05:32:12Z</dcterms:created>
  <dcterms:modified xsi:type="dcterms:W3CDTF">2025-11-23T16:37:47Z</dcterms:modified>
</cp:coreProperties>
</file>